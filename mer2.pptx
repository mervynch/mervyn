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4"/>
  </p:notesMasterIdLst>
  <p:sldIdLst>
    <p:sldId id="483" r:id="rId2"/>
    <p:sldId id="484" r:id="rId3"/>
    <p:sldId id="470" r:id="rId4"/>
    <p:sldId id="487" r:id="rId5"/>
    <p:sldId id="488" r:id="rId6"/>
    <p:sldId id="478" r:id="rId7"/>
    <p:sldId id="490" r:id="rId8"/>
    <p:sldId id="489" r:id="rId9"/>
    <p:sldId id="481" r:id="rId10"/>
    <p:sldId id="491" r:id="rId11"/>
    <p:sldId id="480" r:id="rId12"/>
    <p:sldId id="482" r:id="rId13"/>
    <p:sldId id="476" r:id="rId14"/>
    <p:sldId id="500" r:id="rId15"/>
    <p:sldId id="501" r:id="rId16"/>
    <p:sldId id="502" r:id="rId17"/>
    <p:sldId id="503" r:id="rId18"/>
    <p:sldId id="504" r:id="rId19"/>
    <p:sldId id="505" r:id="rId20"/>
    <p:sldId id="485" r:id="rId21"/>
    <p:sldId id="473" r:id="rId22"/>
    <p:sldId id="468" r:id="rId23"/>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7" autoAdjust="0"/>
    <p:restoredTop sz="94434" autoAdjust="0"/>
  </p:normalViewPr>
  <p:slideViewPr>
    <p:cSldViewPr snapToGrid="0" showGuides="1">
      <p:cViewPr varScale="1">
        <p:scale>
          <a:sx n="63" d="100"/>
          <a:sy n="63" d="100"/>
        </p:scale>
        <p:origin x="988" y="56"/>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1" loCatId="process" qsTypeId="urn:microsoft.com/office/officeart/2005/8/quickstyle/simple1#1" qsCatId="simple" csTypeId="urn:microsoft.com/office/officeart/2005/8/colors/colorful1#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0</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dgm:spPr/>
      <dgm:t>
        <a:bodyPr/>
        <a:lstStyle/>
        <a:p>
          <a:r>
            <a:rPr lang="en-US" dirty="0">
              <a:latin typeface="Times New Roman" panose="02020603050405020304" pitchFamily="18" charset="0"/>
              <a:cs typeface="Times New Roman" panose="02020603050405020304" pitchFamily="18" charset="0"/>
            </a:rPr>
            <a:t>Understand the company processes and project scope.</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r>
            <a:rPr lang="en-US" dirty="0"/>
            <a:t>Complete basic coding tasks or documentation to familiarize with codebase.</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dgm:spPr/>
      <dgm:t>
        <a:bodyPr/>
        <a:lstStyle/>
        <a:p>
          <a:r>
            <a:rPr lang="en-US" dirty="0"/>
            <a:t>Demonstrate improved coding standards, problem-solving, and understanding of project requirements.</a:t>
          </a:r>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126A464E-F8AF-4E81-8D47-2A3EF23849CB}">
      <dgm:prSet/>
      <dgm:spPr/>
      <dgm:t>
        <a:bodyPr/>
        <a:lstStyle/>
        <a:p>
          <a:r>
            <a:rPr lang="en-US" dirty="0"/>
            <a:t>Showcase completed work, lessons learned, and plan for next steps or handover.</a:t>
          </a:r>
          <a:endParaRPr lang="en-GB" dirty="0"/>
        </a:p>
      </dgm:t>
    </dgm:pt>
    <dgm:pt modelId="{EC132CE0-420F-40FF-97E5-B54F2D3A707E}" type="parTrans" cxnId="{34E2CA94-EE38-43F1-8244-8F3DBE74C47B}">
      <dgm:prSet/>
      <dgm:spPr/>
      <dgm:t>
        <a:bodyPr/>
        <a:lstStyle/>
        <a:p>
          <a:endParaRPr lang="en-GB"/>
        </a:p>
      </dgm:t>
    </dgm:pt>
    <dgm:pt modelId="{54C172BC-D35C-4287-A012-F90028269BBF}" type="sibTrans" cxnId="{34E2CA94-EE38-43F1-8244-8F3DBE74C47B}">
      <dgm:prSet/>
      <dgm:spPr/>
      <dgm:t>
        <a:bodyPr/>
        <a:lstStyle/>
        <a:p>
          <a:endParaRPr lang="en-GB"/>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DA8872B7-3CAE-40FA-9263-ED782D329981}" type="pres">
      <dgm:prSet presAssocID="{5E92505A-51E0-4F78-B3C5-704ACF8710DE}" presName="ChildAccent4" presStyleCnt="0"/>
      <dgm:spPr/>
    </dgm:pt>
    <dgm:pt modelId="{FC0F1314-3294-4A8C-8DCE-EB53E236164C}" type="pres">
      <dgm:prSet presAssocID="{5E92505A-51E0-4F78-B3C5-704ACF8710DE}" presName="ChildAccent" presStyleLbl="alignImgPlace1" presStyleIdx="0" presStyleCnt="4"/>
      <dgm:spPr/>
    </dgm:pt>
    <dgm:pt modelId="{D0346696-18E0-4E5A-B733-EB6D69E64FA6}" type="pres">
      <dgm:prSet presAssocID="{5E92505A-51E0-4F78-B3C5-704ACF8710DE}" presName="Child4" presStyleLbl="revTx" presStyleIdx="0" presStyleCnt="0">
        <dgm:presLayoutVars>
          <dgm:chMax val="0"/>
          <dgm:chPref val="0"/>
          <dgm:bulletEnabled val="1"/>
        </dgm:presLayoutVars>
      </dgm:prSet>
      <dgm:spPr/>
    </dgm:pt>
    <dgm:pt modelId="{927E1EB8-30AC-4957-8B5E-800527A91E48}" type="pres">
      <dgm:prSet presAssocID="{5E92505A-51E0-4F78-B3C5-704ACF8710DE}" presName="Parent4" presStyleLbl="node1" presStyleIdx="0" presStyleCnt="4">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1" presStyleCnt="4"/>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1" presStyleCnt="4">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2" presStyleCnt="4"/>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2" presStyleCnt="4">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3" presStyleCnt="4"/>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3" presStyleCnt="4">
        <dgm:presLayoutVars>
          <dgm:chMax val="2"/>
          <dgm:chPref val="1"/>
          <dgm:bulletEnabled val="1"/>
        </dgm:presLayoutVars>
      </dgm:prSet>
      <dgm:spPr/>
    </dgm:pt>
  </dgm:ptLst>
  <dgm:cxnLst>
    <dgm:cxn modelId="{45270D25-428B-4D13-96B6-70A52338AE53}" type="presOf" srcId="{988D96B0-D16E-4763-B393-84178CF4FF50}" destId="{65257024-FAC0-4522-B139-1CC85B547BE8}" srcOrd="0" destOrd="0" presId="urn:microsoft.com/office/officeart/2011/layout/InterconnectedBlockProcess#1"/>
    <dgm:cxn modelId="{EE32DD29-1088-4A6B-ABC7-885A718C60CA}" type="presOf" srcId="{D471E45F-B026-44AA-9616-57E786AE80AF}" destId="{A134CDD1-D85F-44EF-8BEE-9F99A855C1E6}" srcOrd="0" destOrd="0" presId="urn:microsoft.com/office/officeart/2011/layout/InterconnectedBlockProcess#1"/>
    <dgm:cxn modelId="{5088B72B-A58C-4D5F-B56F-2A1C0C405D92}" type="presOf" srcId="{7B3055AA-BF7C-46D0-9A9E-60087B9F57B4}" destId="{00BB3360-A9BB-4051-A4B1-1216F82F642C}" srcOrd="0" destOrd="0" presId="urn:microsoft.com/office/officeart/2011/layout/InterconnectedBlockProcess#1"/>
    <dgm:cxn modelId="{E3292D60-84FF-4CC1-B475-12D7D4F90772}" type="presOf" srcId="{D471E45F-B026-44AA-9616-57E786AE80AF}" destId="{1C91D7E3-8940-4A33-9182-677DD5415901}" srcOrd="1" destOrd="0" presId="urn:microsoft.com/office/officeart/2011/layout/InterconnectedBlockProcess#1"/>
    <dgm:cxn modelId="{AA17007A-110D-43AE-B6F2-DF2DF885F2E2}" srcId="{A59EC69B-8F3F-425B-819F-E8C557946AEE}" destId="{73DB572E-062D-41AD-8033-D361B8E583DB}" srcOrd="0" destOrd="0" parTransId="{75D01B62-D132-48B8-9D06-D0A551A21107}" sibTransId="{98BDB650-3386-4D3D-8E80-609010499291}"/>
    <dgm:cxn modelId="{02D0CD8C-C59F-405A-AAC8-89AA97D36D41}" type="presOf" srcId="{9FED87C4-3F3B-4A18-9185-9F80CFEDEA2E}" destId="{6BCCFBA6-7A43-4631-AD7F-AFB10E1E6CD7}" srcOrd="1" destOrd="0" presId="urn:microsoft.com/office/officeart/2011/layout/InterconnectedBlockProcess#1"/>
    <dgm:cxn modelId="{57216790-40CA-4FC1-A22B-BD2D92DD5537}" type="presOf" srcId="{73DB572E-062D-41AD-8033-D361B8E583DB}" destId="{2532504F-5FE1-4C97-B485-F05E8885EACC}" srcOrd="0" destOrd="0" presId="urn:microsoft.com/office/officeart/2011/layout/InterconnectedBlockProcess#1"/>
    <dgm:cxn modelId="{27611794-B6EF-4593-A560-02BF7692DC5A}" srcId="{7B3055AA-BF7C-46D0-9A9E-60087B9F57B4}" destId="{9FED87C4-3F3B-4A18-9185-9F80CFEDEA2E}" srcOrd="0" destOrd="0" parTransId="{669F5586-1E47-4A85-AA72-0E435BABD665}" sibTransId="{AD0D1882-5210-4A49-9875-4AAC43595580}"/>
    <dgm:cxn modelId="{34E2CA94-EE38-43F1-8244-8F3DBE74C47B}" srcId="{5E92505A-51E0-4F78-B3C5-704ACF8710DE}" destId="{126A464E-F8AF-4E81-8D47-2A3EF23849CB}" srcOrd="0" destOrd="0" parTransId="{EC132CE0-420F-40FF-97E5-B54F2D3A707E}" sibTransId="{54C172BC-D35C-4287-A012-F90028269BBF}"/>
    <dgm:cxn modelId="{F68F949A-245C-4136-B9D7-9229F30FDEC9}" type="presOf" srcId="{A59EC69B-8F3F-425B-819F-E8C557946AEE}" destId="{4C66D42D-7E6D-4563-AFDC-369C30B73F70}" srcOrd="0" destOrd="0" presId="urn:microsoft.com/office/officeart/2011/layout/InterconnectedBlockProcess#1"/>
    <dgm:cxn modelId="{B82646A0-1787-41B7-94F3-BEBCB992D50B}" type="presOf" srcId="{5E92505A-51E0-4F78-B3C5-704ACF8710DE}" destId="{927E1EB8-30AC-4957-8B5E-800527A91E48}" srcOrd="0" destOrd="0" presId="urn:microsoft.com/office/officeart/2011/layout/InterconnectedBlockProcess#1"/>
    <dgm:cxn modelId="{96C779B5-19C2-41DC-BB68-C8C4EDBCA390}" type="presOf" srcId="{73DB572E-062D-41AD-8033-D361B8E583DB}" destId="{0D08ED52-6744-4369-B780-916B09984775}" srcOrd="1" destOrd="0" presId="urn:microsoft.com/office/officeart/2011/layout/InterconnectedBlockProcess#1"/>
    <dgm:cxn modelId="{6C7D4BBB-EED6-4011-9FBC-87F683D5B245}" srcId="{5751524B-FB67-4894-A0C5-35151E149D68}" destId="{7B3055AA-BF7C-46D0-9A9E-60087B9F57B4}" srcOrd="1" destOrd="0" parTransId="{F772EF41-D2BB-4368-8327-B4E332165F48}" sibTransId="{B81593E2-4CAC-4783-8D2D-E9DDD236A942}"/>
    <dgm:cxn modelId="{A89E8CCE-DC9D-4BC1-984D-FEF289B82C65}" type="presOf" srcId="{5751524B-FB67-4894-A0C5-35151E149D68}" destId="{A6BCDA7B-D633-438F-B44D-CB4D60E5C492}" srcOrd="0" destOrd="0" presId="urn:microsoft.com/office/officeart/2011/layout/InterconnectedBlockProcess#1"/>
    <dgm:cxn modelId="{D1BA1DD0-A52A-47BF-962D-9810C87E1576}" srcId="{5751524B-FB67-4894-A0C5-35151E149D68}" destId="{A59EC69B-8F3F-425B-819F-E8C557946AEE}" srcOrd="2" destOrd="0" parTransId="{0095C3CB-916F-4060-A8DA-DD282FB51587}" sibTransId="{2868AD8D-4E38-46CE-A972-709857BF40AC}"/>
    <dgm:cxn modelId="{EAE635E0-336E-425A-8F72-F80B5589FD35}" type="presOf" srcId="{126A464E-F8AF-4E81-8D47-2A3EF23849CB}" destId="{D0346696-18E0-4E5A-B733-EB6D69E64FA6}" srcOrd="1" destOrd="0" presId="urn:microsoft.com/office/officeart/2011/layout/InterconnectedBlockProcess#1"/>
    <dgm:cxn modelId="{FA2557E8-C96E-4302-BB90-4BDE8A80E2D1}" type="presOf" srcId="{126A464E-F8AF-4E81-8D47-2A3EF23849CB}" destId="{FC0F1314-3294-4A8C-8DCE-EB53E236164C}" srcOrd="0" destOrd="0" presId="urn:microsoft.com/office/officeart/2011/layout/InterconnectedBlockProcess#1"/>
    <dgm:cxn modelId="{DA8CD5E8-B2EE-41E4-8EC6-CFB41D688F68}" srcId="{5751524B-FB67-4894-A0C5-35151E149D68}" destId="{5E92505A-51E0-4F78-B3C5-704ACF8710DE}" srcOrd="3" destOrd="0" parTransId="{765B1266-7CE2-4F9C-AE38-D97DFBC1B151}" sibTransId="{5E9E6A6F-635A-4791-A107-01E95B62EA08}"/>
    <dgm:cxn modelId="{1CF0C9EC-03B3-43C7-AC62-87DAFD9D1635}" type="presOf" srcId="{9FED87C4-3F3B-4A18-9185-9F80CFEDEA2E}" destId="{06F8D57B-EDF4-4CF4-8700-DC2CA3E3028E}" srcOrd="0" destOrd="0" presId="urn:microsoft.com/office/officeart/2011/layout/InterconnectedBlockProcess#1"/>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CE4C8727-E89C-427A-B0C1-28BCF37DB03B}" type="presParOf" srcId="{A6BCDA7B-D633-438F-B44D-CB4D60E5C492}" destId="{DA8872B7-3CAE-40FA-9263-ED782D329981}" srcOrd="0" destOrd="0" presId="urn:microsoft.com/office/officeart/2011/layout/InterconnectedBlockProcess#1"/>
    <dgm:cxn modelId="{3F2F73F3-1ED8-41D3-BF39-1F98E5C69511}" type="presParOf" srcId="{DA8872B7-3CAE-40FA-9263-ED782D329981}" destId="{FC0F1314-3294-4A8C-8DCE-EB53E236164C}" srcOrd="0" destOrd="0" presId="urn:microsoft.com/office/officeart/2011/layout/InterconnectedBlockProcess#1"/>
    <dgm:cxn modelId="{1AE4D08B-FA0D-4A77-8253-0387587B4228}" type="presParOf" srcId="{A6BCDA7B-D633-438F-B44D-CB4D60E5C492}" destId="{D0346696-18E0-4E5A-B733-EB6D69E64FA6}" srcOrd="1" destOrd="0" presId="urn:microsoft.com/office/officeart/2011/layout/InterconnectedBlockProcess#1"/>
    <dgm:cxn modelId="{3F0CC095-85FB-44DB-B469-6FFE580CB563}" type="presParOf" srcId="{A6BCDA7B-D633-438F-B44D-CB4D60E5C492}" destId="{927E1EB8-30AC-4957-8B5E-800527A91E48}" srcOrd="2" destOrd="0" presId="urn:microsoft.com/office/officeart/2011/layout/InterconnectedBlockProcess#1"/>
    <dgm:cxn modelId="{8763BB5B-6F4C-4D47-85B1-62610FE5B298}" type="presParOf" srcId="{A6BCDA7B-D633-438F-B44D-CB4D60E5C492}" destId="{96AFCF47-32CA-4C44-9E3C-782007B7112E}" srcOrd="3" destOrd="0" presId="urn:microsoft.com/office/officeart/2011/layout/InterconnectedBlockProcess#1"/>
    <dgm:cxn modelId="{DEC84310-B2F7-4E69-8F89-299DFF887707}" type="presParOf" srcId="{96AFCF47-32CA-4C44-9E3C-782007B7112E}" destId="{2532504F-5FE1-4C97-B485-F05E8885EACC}" srcOrd="0" destOrd="0" presId="urn:microsoft.com/office/officeart/2011/layout/InterconnectedBlockProcess#1"/>
    <dgm:cxn modelId="{411A5A8E-BF9A-4918-B1BF-97B5D2E1CE75}" type="presParOf" srcId="{A6BCDA7B-D633-438F-B44D-CB4D60E5C492}" destId="{0D08ED52-6744-4369-B780-916B09984775}" srcOrd="4" destOrd="0" presId="urn:microsoft.com/office/officeart/2011/layout/InterconnectedBlockProcess#1"/>
    <dgm:cxn modelId="{F96AEFC3-668C-485E-AC28-DE7FA02228A9}" type="presParOf" srcId="{A6BCDA7B-D633-438F-B44D-CB4D60E5C492}" destId="{4C66D42D-7E6D-4563-AFDC-369C30B73F70}" srcOrd="5" destOrd="0" presId="urn:microsoft.com/office/officeart/2011/layout/InterconnectedBlockProcess#1"/>
    <dgm:cxn modelId="{7911F644-0138-4A4E-B810-F025BD63CD8F}" type="presParOf" srcId="{A6BCDA7B-D633-438F-B44D-CB4D60E5C492}" destId="{C1269CE6-C767-48CC-AAFD-A238D1FFDABA}" srcOrd="6" destOrd="0" presId="urn:microsoft.com/office/officeart/2011/layout/InterconnectedBlockProcess#1"/>
    <dgm:cxn modelId="{5AA2FD48-021E-4A53-964C-DD52EA8D7653}" type="presParOf" srcId="{C1269CE6-C767-48CC-AAFD-A238D1FFDABA}" destId="{06F8D57B-EDF4-4CF4-8700-DC2CA3E3028E}" srcOrd="0" destOrd="0" presId="urn:microsoft.com/office/officeart/2011/layout/InterconnectedBlockProcess#1"/>
    <dgm:cxn modelId="{ABEDFE72-13B5-44DF-B596-B4EEFE4E8FE3}" type="presParOf" srcId="{A6BCDA7B-D633-438F-B44D-CB4D60E5C492}" destId="{6BCCFBA6-7A43-4631-AD7F-AFB10E1E6CD7}" srcOrd="7" destOrd="0" presId="urn:microsoft.com/office/officeart/2011/layout/InterconnectedBlockProcess#1"/>
    <dgm:cxn modelId="{214D504B-4CBF-4B7C-A0E7-B63D10D9DDB1}" type="presParOf" srcId="{A6BCDA7B-D633-438F-B44D-CB4D60E5C492}" destId="{00BB3360-A9BB-4051-A4B1-1216F82F642C}" srcOrd="8" destOrd="0" presId="urn:microsoft.com/office/officeart/2011/layout/InterconnectedBlockProcess#1"/>
    <dgm:cxn modelId="{07B34F88-773E-4FE4-8638-A7CCDA760808}" type="presParOf" srcId="{A6BCDA7B-D633-438F-B44D-CB4D60E5C492}" destId="{7305DF14-0FF5-45E4-8B19-015814092DBD}" srcOrd="9" destOrd="0" presId="urn:microsoft.com/office/officeart/2011/layout/InterconnectedBlockProcess#1"/>
    <dgm:cxn modelId="{362691DD-4B1E-4FC2-8550-02C45B3B7FBC}" type="presParOf" srcId="{7305DF14-0FF5-45E4-8B19-015814092DBD}" destId="{A134CDD1-D85F-44EF-8BEE-9F99A855C1E6}" srcOrd="0" destOrd="0" presId="urn:microsoft.com/office/officeart/2011/layout/InterconnectedBlockProcess#1"/>
    <dgm:cxn modelId="{63B69D61-D405-4261-BFDE-C503872760F8}" type="presParOf" srcId="{A6BCDA7B-D633-438F-B44D-CB4D60E5C492}" destId="{1C91D7E3-8940-4A33-9182-677DD5415901}" srcOrd="10" destOrd="0" presId="urn:microsoft.com/office/officeart/2011/layout/InterconnectedBlockProcess#1"/>
    <dgm:cxn modelId="{C9F769F8-3C09-4DEC-B20E-9972D58EEAFC}" type="presParOf" srcId="{A6BCDA7B-D633-438F-B44D-CB4D60E5C492}" destId="{65257024-FAC0-4522-B139-1CC85B547BE8}" srcOrd="11" destOrd="0" presId="urn:microsoft.com/office/officeart/2011/layout/InterconnectedBlock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F1314-3294-4A8C-8DCE-EB53E236164C}">
      <dsp:nvSpPr>
        <dsp:cNvPr id="0" name=""/>
        <dsp:cNvSpPr/>
      </dsp:nvSpPr>
      <dsp:spPr>
        <a:xfrm>
          <a:off x="6639818" y="767810"/>
          <a:ext cx="1382018" cy="3290384"/>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Showcase completed work, lessons learned, and plan for next steps or handover.</a:t>
          </a:r>
          <a:endParaRPr lang="en-GB" sz="1400" kern="1200" dirty="0"/>
        </a:p>
      </dsp:txBody>
      <dsp:txXfrm>
        <a:off x="6815058" y="767810"/>
        <a:ext cx="1206778" cy="3290384"/>
      </dsp:txXfrm>
    </dsp:sp>
    <dsp:sp modelId="{927E1EB8-30AC-4957-8B5E-800527A91E48}">
      <dsp:nvSpPr>
        <dsp:cNvPr id="0" name=""/>
        <dsp:cNvSpPr/>
      </dsp:nvSpPr>
      <dsp:spPr>
        <a:xfrm>
          <a:off x="6639818" y="0"/>
          <a:ext cx="1382018" cy="76781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3</a:t>
          </a:r>
        </a:p>
      </dsp:txBody>
      <dsp:txXfrm>
        <a:off x="6639818" y="0"/>
        <a:ext cx="1382018" cy="767810"/>
      </dsp:txXfrm>
    </dsp:sp>
    <dsp:sp modelId="{2532504F-5FE1-4C97-B485-F05E8885EACC}">
      <dsp:nvSpPr>
        <dsp:cNvPr id="0" name=""/>
        <dsp:cNvSpPr/>
      </dsp:nvSpPr>
      <dsp:spPr>
        <a:xfrm>
          <a:off x="5257800" y="767810"/>
          <a:ext cx="1382018" cy="3071241"/>
        </a:xfrm>
        <a:prstGeom prst="wedgeRectCallout">
          <a:avLst>
            <a:gd name="adj1" fmla="val 62500"/>
            <a:gd name="adj2" fmla="val 20830"/>
          </a:avLst>
        </a:prstGeom>
        <a:solidFill>
          <a:schemeClr val="accent1">
            <a:tint val="50000"/>
            <a:hueOff val="-4019912"/>
            <a:satOff val="8042"/>
            <a:lumOff val="34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Demonstrate improved coding standards, problem-solving, and understanding of project requirements.</a:t>
          </a:r>
          <a:endParaRPr lang="en-US" sz="1400" kern="1200" dirty="0">
            <a:latin typeface="Times New Roman" panose="02020603050405020304" pitchFamily="18" charset="0"/>
            <a:cs typeface="Times New Roman" panose="02020603050405020304" pitchFamily="18" charset="0"/>
          </a:endParaRPr>
        </a:p>
      </dsp:txBody>
      <dsp:txXfrm>
        <a:off x="5433039" y="767810"/>
        <a:ext cx="1206778" cy="3071241"/>
      </dsp:txXfrm>
    </dsp:sp>
    <dsp:sp modelId="{4C66D42D-7E6D-4563-AFDC-369C30B73F70}">
      <dsp:nvSpPr>
        <dsp:cNvPr id="0" name=""/>
        <dsp:cNvSpPr/>
      </dsp:nvSpPr>
      <dsp:spPr>
        <a:xfrm>
          <a:off x="5257800" y="111600"/>
          <a:ext cx="1382018" cy="65823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2</a:t>
          </a:r>
        </a:p>
      </dsp:txBody>
      <dsp:txXfrm>
        <a:off x="5257800" y="111600"/>
        <a:ext cx="1382018" cy="658239"/>
      </dsp:txXfrm>
    </dsp:sp>
    <dsp:sp modelId="{06F8D57B-EDF4-4CF4-8700-DC2CA3E3028E}">
      <dsp:nvSpPr>
        <dsp:cNvPr id="0" name=""/>
        <dsp:cNvSpPr/>
      </dsp:nvSpPr>
      <dsp:spPr>
        <a:xfrm>
          <a:off x="3875781" y="767810"/>
          <a:ext cx="1382018" cy="2851693"/>
        </a:xfrm>
        <a:prstGeom prst="wedgeRectCallout">
          <a:avLst>
            <a:gd name="adj1" fmla="val 62500"/>
            <a:gd name="adj2" fmla="val 20830"/>
          </a:avLst>
        </a:prstGeom>
        <a:solidFill>
          <a:schemeClr val="accent1">
            <a:tint val="50000"/>
            <a:hueOff val="-8039823"/>
            <a:satOff val="16083"/>
            <a:lumOff val="68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Complete basic coding tasks or documentation to familiarize with codebase.</a:t>
          </a:r>
          <a:endParaRPr lang="en-US" sz="1400" kern="1200" dirty="0">
            <a:latin typeface="Times New Roman" panose="02020603050405020304" pitchFamily="18" charset="0"/>
            <a:cs typeface="Times New Roman" panose="02020603050405020304" pitchFamily="18" charset="0"/>
          </a:endParaRPr>
        </a:p>
      </dsp:txBody>
      <dsp:txXfrm>
        <a:off x="4051021" y="767810"/>
        <a:ext cx="1206778" cy="2851693"/>
      </dsp:txXfrm>
    </dsp:sp>
    <dsp:sp modelId="{00BB3360-A9BB-4051-A4B1-1216F82F642C}">
      <dsp:nvSpPr>
        <dsp:cNvPr id="0" name=""/>
        <dsp:cNvSpPr/>
      </dsp:nvSpPr>
      <dsp:spPr>
        <a:xfrm>
          <a:off x="3875781" y="219548"/>
          <a:ext cx="1382018" cy="54826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1</a:t>
          </a:r>
        </a:p>
      </dsp:txBody>
      <dsp:txXfrm>
        <a:off x="3875781" y="219548"/>
        <a:ext cx="1382018" cy="548262"/>
      </dsp:txXfrm>
    </dsp:sp>
    <dsp:sp modelId="{A134CDD1-D85F-44EF-8BEE-9F99A855C1E6}">
      <dsp:nvSpPr>
        <dsp:cNvPr id="0" name=""/>
        <dsp:cNvSpPr/>
      </dsp:nvSpPr>
      <dsp:spPr>
        <a:xfrm>
          <a:off x="2493763" y="767810"/>
          <a:ext cx="1382018" cy="2632145"/>
        </a:xfrm>
        <a:prstGeom prst="wedgeRectCallout">
          <a:avLst>
            <a:gd name="adj1" fmla="val 62500"/>
            <a:gd name="adj2" fmla="val 20830"/>
          </a:avLst>
        </a:prstGeom>
        <a:solidFill>
          <a:schemeClr val="accent1">
            <a:tint val="50000"/>
            <a:hueOff val="-12059734"/>
            <a:satOff val="24125"/>
            <a:lumOff val="102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Understand the company processes and project scope.</a:t>
          </a:r>
        </a:p>
      </dsp:txBody>
      <dsp:txXfrm>
        <a:off x="2669003" y="767810"/>
        <a:ext cx="1206778" cy="2632145"/>
      </dsp:txXfrm>
    </dsp:sp>
    <dsp:sp modelId="{65257024-FAC0-4522-B139-1CC85B547BE8}">
      <dsp:nvSpPr>
        <dsp:cNvPr id="0" name=""/>
        <dsp:cNvSpPr/>
      </dsp:nvSpPr>
      <dsp:spPr>
        <a:xfrm>
          <a:off x="2493763" y="329119"/>
          <a:ext cx="1382018" cy="43869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0</a:t>
          </a:r>
        </a:p>
      </dsp:txBody>
      <dsp:txXfrm>
        <a:off x="2493763" y="329119"/>
        <a:ext cx="1382018" cy="438690"/>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1">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ptType="node node"/>
        <dgm:presOf axis="des des" ptType="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t>4/28/2025</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lstStyle>
            <a:lvl1pPr algn="r" eaLnBrk="1" hangingPunct="1">
              <a:defRPr sz="1200"/>
            </a:lvl1pPr>
          </a:lstStyle>
          <a:p>
            <a:pPr>
              <a:defRPr/>
            </a:pPr>
            <a:fld id="{36A1ABE2-8A9C-4371-A477-2D85B6949ADB}"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EB984284-C742-4CDE-BCD1-55F1EACCE4BD}"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FAC8F4A-8BCF-4389-A68F-ABDBB8A38460}" type="slidenum">
              <a:rPr lang="en-US" altLang="en-US"/>
              <a:t>‹#›</a:t>
            </a:fld>
            <a:endParaRPr lang="en-US" altLang="en-US"/>
          </a:p>
        </p:txBody>
      </p:sp>
    </p:spTree>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8400D6F-81A6-4CA0-8B3C-34372C62B661}"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5EC703-C051-410C-8BA1-62752E291E83}" type="slidenum">
              <a:rPr lang="en-US" altLang="en-US"/>
              <a:t>‹#›</a:t>
            </a:fld>
            <a:endParaRPr lang="en-US" altLang="en-US"/>
          </a:p>
        </p:txBody>
      </p:sp>
    </p:spTree>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63234D9-D072-4920-821D-BED01FCB7247}"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9A17B78-0E85-43B3-B804-1DD2F629C182}" type="slidenum">
              <a:rPr lang="en-US" altLang="en-US"/>
              <a:t>‹#›</a:t>
            </a:fld>
            <a:endParaRPr lang="en-US" altLang="en-US"/>
          </a:p>
        </p:txBody>
      </p:sp>
    </p:spTree>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74A9FD15-50EB-4E55-A7AC-5D569B5B3C80}" type="datetime1">
              <a:rPr lang="en-US"/>
              <a:t>4/28/2025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10EC4D6-2A5D-45C1-86E3-8BE19A62D209}" type="slidenum">
              <a:rPr lang="en-US" altLang="en-US"/>
              <a:t>‹#›</a:t>
            </a:fld>
            <a:endParaRPr lang="en-US" altLang="en-US"/>
          </a:p>
        </p:txBody>
      </p:sp>
    </p:spTree>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C50B61E-D197-4188-943F-30B5936FC2F9}" type="datetime1">
              <a:rPr lang="en-US"/>
              <a:t>4/28/2025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7F6C894-F542-45DE-85A4-2725CE924991}" type="slidenum">
              <a:rPr lang="en-US" altLang="en-US"/>
              <a:t>‹#›</a:t>
            </a:fld>
            <a:endParaRPr lang="en-US" altLang="en-US"/>
          </a:p>
        </p:txBody>
      </p:sp>
    </p:spTree>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6BD41E7F-6671-4D2D-B6AD-20E102447CE3}" type="datetime1">
              <a:rPr lang="en-US"/>
              <a:t>4/28/2025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89318FD-4EEC-4C57-A972-0B24B85155E4}" type="slidenum">
              <a:rPr lang="en-US" altLang="en-US"/>
              <a:t>‹#›</a:t>
            </a:fld>
            <a:endParaRPr lang="en-US" altLang="en-US"/>
          </a:p>
        </p:txBody>
      </p:sp>
    </p:spTree>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AE11748-68B0-424D-A128-8EE4A2F1567E}" type="datetime1">
              <a:rPr lang="en-US"/>
              <a:t>4/28/2025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F195F4C-44D2-4F45-A0AC-21646A9D27BF}" type="slidenum">
              <a:rPr lang="en-US" altLang="en-US"/>
              <a:t>‹#›</a:t>
            </a:fld>
            <a:endParaRPr lang="en-US" altLang="en-US"/>
          </a:p>
        </p:txBody>
      </p:sp>
    </p:spTree>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094E8B7-7DCF-4AE2-ACBE-26DA6EBB7347}" type="datetime1">
              <a:rPr lang="en-US"/>
              <a:t>4/28/2025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CD429D7-E526-4101-969E-B40B8D8E48CC}" type="slidenum">
              <a:rPr lang="en-US" altLang="en-US"/>
              <a:t>‹#›</a:t>
            </a:fld>
            <a:endParaRPr lang="en-US" altLang="en-US"/>
          </a:p>
        </p:txBody>
      </p:sp>
    </p:spTree>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58AEAC7-C2C3-44AF-AB2E-36A1774D5378}" type="datetime1">
              <a:rPr lang="en-US"/>
              <a:t>4/28/2025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66FD7F1-16F9-4E12-83AD-C4245146BA57}" type="slidenum">
              <a:rPr lang="en-US" altLang="en-US"/>
              <a:t>‹#›</a:t>
            </a:fld>
            <a:endParaRPr lang="en-US" altLang="en-US"/>
          </a:p>
        </p:txBody>
      </p:sp>
    </p:spTree>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702336F-006F-49C3-8FF0-2416E12056BA}"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3CA2AFE-CAB8-4467-80DC-C3A4FC1E2718}" type="slidenum">
              <a:rPr lang="en-US" altLang="en-US"/>
              <a:t>‹#›</a:t>
            </a:fld>
            <a:endParaRPr lang="en-US" altLang="en-US"/>
          </a:p>
        </p:txBody>
      </p:sp>
    </p:spTree>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C683BFA-96BB-4329-BF2F-32F59AFA4E79}"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DDD8426-6957-4B5B-B927-2BE994D1B7C1}" type="slidenum">
              <a:rPr lang="en-US" altLang="en-US"/>
              <a:t>‹#›</a:t>
            </a:fld>
            <a:endParaRPr lang="en-US" altLang="en-US"/>
          </a:p>
        </p:txBody>
      </p:sp>
    </p:spTree>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t>4/28/2025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a:defRPr/>
            </a:pPr>
            <a:fld id="{ADBF7CE3-29D9-4203-A481-45960E76618F}" type="slidenum">
              <a:rPr lang="en-US" altLang="en-US"/>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IN"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Praveena K N</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B.tech</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alt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Dr.Zafar Ali Khan</a:t>
            </a:r>
            <a:endPar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Internship/Project Coordinators: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Mr. Md Ziaur Rahman </a:t>
            </a: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PIP4004 -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Review-2 Presentation </a:t>
            </a:r>
          </a:p>
          <a:p>
            <a:pPr algn="ct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Software Development</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398005304"/>
              </p:ext>
            </p:extLst>
          </p:nvPr>
        </p:nvGraphicFramePr>
        <p:xfrm>
          <a:off x="601909" y="1911875"/>
          <a:ext cx="5321552" cy="182880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0000"/>
                    </a:ext>
                  </a:extLst>
                </a:gridCol>
                <a:gridCol w="3950282">
                  <a:extLst>
                    <a:ext uri="{9D8B030D-6E8A-4147-A177-3AD203B41FA5}">
                      <a16:colId xmlns:a16="http://schemas.microsoft.com/office/drawing/2014/main" val="2000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endParaRPr lang="en-US"/>
                    </a:p>
                  </a:txBody>
                  <a:tcPr/>
                </a:tc>
                <a:extLst>
                  <a:ext uri="{0D108BD9-81ED-4DB2-BD59-A6C34878D82A}">
                    <a16:rowId xmlns:a16="http://schemas.microsoft.com/office/drawing/2014/main" val="10000"/>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altLang="en-US" dirty="0">
                          <a:latin typeface="Cambria" panose="02040503050406030204" pitchFamily="18" charset="0"/>
                          <a:ea typeface="Cambria" panose="02040503050406030204" pitchFamily="18" charset="0"/>
                          <a:cs typeface="Times New Roman" panose="02020603050405020304" pitchFamily="18" charset="0"/>
                        </a:rPr>
                        <a:t>MERVYN CHRISTY J</a:t>
                      </a:r>
                      <a:endParaRPr lang="en-IN" alt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20211</a:t>
                      </a:r>
                      <a:r>
                        <a:rPr lang="en-IN" altLang="en-US">
                          <a:latin typeface="Cambria" panose="02040503050406030204" pitchFamily="18" charset="0"/>
                          <a:ea typeface="Cambria" panose="02040503050406030204" pitchFamily="18" charset="0"/>
                          <a:cs typeface="Times New Roman" panose="02020603050405020304" pitchFamily="18" charset="0"/>
                        </a:rPr>
                        <a:t>ISR0028</a:t>
                      </a:r>
                      <a:endParaRPr lang="en-IN" alt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IN" altLang="en-US" dirty="0">
                          <a:latin typeface="Cambria" panose="02040503050406030204" pitchFamily="18" charset="0"/>
                          <a:ea typeface="Cambria" panose="02040503050406030204" pitchFamily="18" charset="0"/>
                          <a:cs typeface="Times New Roman" panose="02020603050405020304" pitchFamily="18" charset="0"/>
                        </a:rPr>
                        <a:t>8-ISR-01</a:t>
                      </a:r>
                    </a:p>
                  </a:txBody>
                  <a:tcPr/>
                </a:tc>
                <a:extLst>
                  <a:ext uri="{0D108BD9-81ED-4DB2-BD59-A6C34878D82A}">
                    <a16:rowId xmlns:a16="http://schemas.microsoft.com/office/drawing/2014/main" val="10003"/>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Batch No.</a:t>
                      </a:r>
                    </a:p>
                  </a:txBody>
                  <a:tcPr/>
                </a:tc>
                <a:tc>
                  <a:txBody>
                    <a:bodyPr/>
                    <a:lstStyle/>
                    <a:p>
                      <a:pPr algn="ct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332412"/>
            <a:ext cx="10515600" cy="4193176"/>
          </a:xfrm>
        </p:spPr>
        <p:txBody>
          <a:bodyPr/>
          <a:lstStyle/>
          <a:p>
            <a:pPr marL="0" indent="0">
              <a:buNone/>
            </a:pPr>
            <a:r>
              <a:rPr lang="en-US" b="1" dirty="0"/>
              <a:t>Company Overview</a:t>
            </a:r>
            <a:endParaRPr lang="en-US" dirty="0"/>
          </a:p>
          <a:p>
            <a:pPr>
              <a:buFont typeface="Arial" panose="020B0604020202020204" pitchFamily="34" charset="0"/>
              <a:buChar char="•"/>
            </a:pPr>
            <a:r>
              <a:rPr lang="en-US" b="1" dirty="0"/>
              <a:t>About Test Yantra</a:t>
            </a:r>
            <a:r>
              <a:rPr lang="en-US" dirty="0"/>
              <a:t>: A global IT services company specializing in software testing and quality assurance.</a:t>
            </a:r>
          </a:p>
          <a:p>
            <a:pPr>
              <a:buFont typeface="Arial" panose="020B0604020202020204" pitchFamily="34" charset="0"/>
              <a:buChar char="•"/>
            </a:pPr>
            <a:r>
              <a:rPr lang="en-US" b="1" dirty="0"/>
              <a:t>Establishment</a:t>
            </a:r>
            <a:r>
              <a:rPr lang="en-US" dirty="0"/>
              <a:t>: Founded with the vision to deliver reliable and efficient QA solutions.</a:t>
            </a:r>
          </a:p>
          <a:p>
            <a:pPr>
              <a:buFont typeface="Arial" panose="020B0604020202020204" pitchFamily="34" charset="0"/>
              <a:buChar char="•"/>
            </a:pPr>
            <a:r>
              <a:rPr lang="en-US" b="1" dirty="0"/>
              <a:t>Presence</a:t>
            </a:r>
            <a:r>
              <a:rPr lang="en-US" dirty="0"/>
              <a:t>: Offices across various regions, serving clients worldwide.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a:t>
            </a:fld>
            <a:endParaRPr lang="en-US" altLang="en-US"/>
          </a:p>
        </p:txBody>
      </p:sp>
    </p:spTree>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332412"/>
            <a:ext cx="10515600" cy="4193176"/>
          </a:xfrm>
        </p:spPr>
        <p:txBody>
          <a:bodyPr/>
          <a:lstStyle/>
          <a:p>
            <a:pPr marL="0" indent="0">
              <a:buNone/>
            </a:pPr>
            <a:r>
              <a:rPr lang="en-US" b="1" dirty="0"/>
              <a:t>Products &amp; Services</a:t>
            </a:r>
            <a:endParaRPr lang="en-US" dirty="0"/>
          </a:p>
          <a:p>
            <a:pPr>
              <a:buFont typeface="Arial" panose="020B0604020202020204" pitchFamily="34" charset="0"/>
              <a:buChar char="•"/>
            </a:pPr>
            <a:r>
              <a:rPr lang="en-US" b="1" dirty="0"/>
              <a:t>Software Testing &amp; QA</a:t>
            </a:r>
            <a:r>
              <a:rPr lang="en-US" dirty="0"/>
              <a:t>: Comprehensive testing solutions including manual, automation, performance, and security testing.</a:t>
            </a:r>
          </a:p>
          <a:p>
            <a:pPr>
              <a:buFont typeface="Arial" panose="020B0604020202020204" pitchFamily="34" charset="0"/>
              <a:buChar char="•"/>
            </a:pPr>
            <a:r>
              <a:rPr lang="en-US" b="1" dirty="0"/>
              <a:t>Consulting &amp; Training</a:t>
            </a:r>
            <a:r>
              <a:rPr lang="en-US" dirty="0"/>
              <a:t>: Expert guidance on testing methodologies, tools, and best practices.</a:t>
            </a:r>
          </a:p>
          <a:p>
            <a:pPr>
              <a:buFont typeface="Arial" panose="020B0604020202020204" pitchFamily="34" charset="0"/>
              <a:buChar char="•"/>
            </a:pPr>
            <a:r>
              <a:rPr lang="en-US" b="1" dirty="0"/>
              <a:t>Customized Solutions</a:t>
            </a:r>
            <a:r>
              <a:rPr lang="en-US" dirty="0"/>
              <a:t>: Tailored services to meet specific client needs across diverse domains</a:t>
            </a:r>
            <a:r>
              <a:rPr lang="en-US" sz="2000" dirty="0"/>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4</a:t>
            </a:fld>
            <a:endParaRPr lang="en-US" altLang="en-US"/>
          </a:p>
        </p:txBody>
      </p:sp>
    </p:spTree>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lstStyle/>
          <a:p>
            <a:pPr marL="0" indent="0">
              <a:buNone/>
            </a:pPr>
            <a:r>
              <a:rPr lang="en-US" b="1" dirty="0"/>
              <a:t>Clients &amp; Partnerships</a:t>
            </a:r>
            <a:endParaRPr lang="en-US" dirty="0"/>
          </a:p>
          <a:p>
            <a:pPr>
              <a:buFont typeface="Arial" panose="020B0604020202020204" pitchFamily="34" charset="0"/>
              <a:buChar char="•"/>
            </a:pPr>
            <a:r>
              <a:rPr lang="en-US" b="1" dirty="0"/>
              <a:t>Client Base</a:t>
            </a:r>
            <a:r>
              <a:rPr lang="en-US" dirty="0"/>
              <a:t>: Serves startups, mid-sized companies, and large enterprises in sectors like banking, healthcare, and e-commerce.</a:t>
            </a:r>
          </a:p>
          <a:p>
            <a:pPr>
              <a:buFont typeface="Arial" panose="020B0604020202020204" pitchFamily="34" charset="0"/>
              <a:buChar char="•"/>
            </a:pPr>
            <a:r>
              <a:rPr lang="en-US" b="1" dirty="0"/>
              <a:t>Key Partnerships</a:t>
            </a:r>
            <a:r>
              <a:rPr lang="en-US" dirty="0"/>
              <a:t>: Collaborates with leading technology providers to stay at the forefront of testing innovation.</a:t>
            </a:r>
          </a:p>
          <a:p>
            <a:pPr>
              <a:buFont typeface="Arial" panose="020B0604020202020204" pitchFamily="34" charset="0"/>
              <a:buChar char="•"/>
            </a:pPr>
            <a:r>
              <a:rPr lang="en-US" b="1" dirty="0"/>
              <a:t>Reputation</a:t>
            </a:r>
            <a:r>
              <a:rPr lang="en-US" dirty="0"/>
              <a:t>: Known for quality-driven approaches and a proven track record of delivering on-time, cost-effective solutions.</a:t>
            </a:r>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5</a:t>
            </a:fld>
            <a:endParaRPr lang="en-US" altLang="en-US"/>
          </a:p>
        </p:txBody>
      </p:sp>
    </p:spTree>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b="1" dirty="0">
                <a:latin typeface="Times New Roman" panose="02020603050405020304" pitchFamily="18" charset="0"/>
                <a:cs typeface="Times New Roman" panose="02020603050405020304" pitchFamily="18" charset="0"/>
              </a:rPr>
              <a:t>Python</a:t>
            </a:r>
          </a:p>
          <a:p>
            <a:pPr marL="0" indent="0">
              <a:buNone/>
            </a:pPr>
            <a:r>
              <a:rPr lang="en-US" dirty="0">
                <a:latin typeface="Times New Roman" panose="02020603050405020304" pitchFamily="18" charset="0"/>
                <a:cs typeface="Times New Roman" panose="02020603050405020304" pitchFamily="18" charset="0"/>
              </a:rPr>
              <a:t>Features: Simple syntax, dynamic typing, extensive libraries and frameworks.</a:t>
            </a:r>
          </a:p>
          <a:p>
            <a:pPr marL="0" indent="0">
              <a:buNone/>
            </a:pPr>
            <a:r>
              <a:rPr lang="en-US" dirty="0">
                <a:latin typeface="Times New Roman" panose="02020603050405020304" pitchFamily="18" charset="0"/>
                <a:cs typeface="Times New Roman" panose="02020603050405020304" pitchFamily="18" charset="0"/>
              </a:rPr>
              <a:t>Importance: Ideal for rapid development in data science, machine learning, web development, and automation.</a:t>
            </a:r>
          </a:p>
          <a:p>
            <a:r>
              <a:rPr lang="en-US" b="1" dirty="0">
                <a:latin typeface="Times New Roman" panose="02020603050405020304" pitchFamily="18" charset="0"/>
                <a:cs typeface="Times New Roman" panose="02020603050405020304" pitchFamily="18" charset="0"/>
              </a:rPr>
              <a:t>HTML</a:t>
            </a:r>
          </a:p>
          <a:p>
            <a:pPr marL="0" indent="0">
              <a:buNone/>
            </a:pPr>
            <a:r>
              <a:rPr lang="en-US" dirty="0">
                <a:latin typeface="Times New Roman" panose="02020603050405020304" pitchFamily="18" charset="0"/>
                <a:cs typeface="Times New Roman" panose="02020603050405020304" pitchFamily="18" charset="0"/>
              </a:rPr>
              <a:t>Features: Markup language for structuring web pages; uses semantic tags.</a:t>
            </a:r>
          </a:p>
          <a:p>
            <a:pPr marL="0" indent="0">
              <a:buNone/>
            </a:pPr>
            <a:r>
              <a:rPr lang="en-US" dirty="0">
                <a:latin typeface="Times New Roman" panose="02020603050405020304" pitchFamily="18" charset="0"/>
                <a:cs typeface="Times New Roman" panose="02020603050405020304" pitchFamily="18" charset="0"/>
              </a:rPr>
              <a:t>Importance: Forms the backbone of any website by defining its structure and content.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6</a:t>
            </a:fld>
            <a:endParaRPr lang="en-US" altLang="en-US"/>
          </a:p>
        </p:txBody>
      </p:sp>
    </p:spTree>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b="1" dirty="0">
                <a:latin typeface="Times New Roman" panose="02020603050405020304" pitchFamily="18" charset="0"/>
                <a:cs typeface="Times New Roman" panose="02020603050405020304" pitchFamily="18" charset="0"/>
              </a:rPr>
              <a:t>CSS</a:t>
            </a:r>
          </a:p>
          <a:p>
            <a:pPr marL="0" indent="0">
              <a:buNone/>
            </a:pPr>
            <a:r>
              <a:rPr lang="en-US" dirty="0">
                <a:latin typeface="Times New Roman" panose="02020603050405020304" pitchFamily="18" charset="0"/>
                <a:cs typeface="Times New Roman" panose="02020603050405020304" pitchFamily="18" charset="0"/>
              </a:rPr>
              <a:t>Features: Styles HTML elements; supports responsive design, animations, and layout frameworks.</a:t>
            </a:r>
          </a:p>
          <a:p>
            <a:pPr marL="0" indent="0">
              <a:buNone/>
            </a:pPr>
            <a:r>
              <a:rPr lang="en-US" dirty="0">
                <a:latin typeface="Times New Roman" panose="02020603050405020304" pitchFamily="18" charset="0"/>
                <a:cs typeface="Times New Roman" panose="02020603050405020304" pitchFamily="18" charset="0"/>
              </a:rPr>
              <a:t>Importance: Crucial for designing visually appealing, responsive, and user-friendly interfaces.</a:t>
            </a:r>
          </a:p>
          <a:p>
            <a:r>
              <a:rPr lang="en-US" b="1" dirty="0">
                <a:latin typeface="Times New Roman" panose="02020603050405020304" pitchFamily="18" charset="0"/>
                <a:cs typeface="Times New Roman" panose="02020603050405020304" pitchFamily="18" charset="0"/>
              </a:rPr>
              <a:t>JavaScript</a:t>
            </a:r>
          </a:p>
          <a:p>
            <a:pPr marL="0" indent="0">
              <a:buNone/>
            </a:pPr>
            <a:r>
              <a:rPr lang="en-US" dirty="0">
                <a:latin typeface="Times New Roman" panose="02020603050405020304" pitchFamily="18" charset="0"/>
                <a:cs typeface="Times New Roman" panose="02020603050405020304" pitchFamily="18" charset="0"/>
              </a:rPr>
              <a:t>Features: Client-side scripting language; enables interactivity, dynamic content, and event handling.</a:t>
            </a:r>
          </a:p>
          <a:p>
            <a:pPr marL="0" indent="0">
              <a:buNone/>
            </a:pPr>
            <a:r>
              <a:rPr lang="en-US" dirty="0">
                <a:latin typeface="Times New Roman" panose="02020603050405020304" pitchFamily="18" charset="0"/>
                <a:cs typeface="Times New Roman" panose="02020603050405020304" pitchFamily="18" charset="0"/>
              </a:rPr>
              <a:t>Importance: Powers modern web applications, making websites interactive and responsive to user actions.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7</a:t>
            </a:fld>
            <a:endParaRPr lang="en-US" altLang="en-US"/>
          </a:p>
        </p:txBody>
      </p:sp>
    </p:spTree>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b="1" dirty="0">
                <a:latin typeface="Times New Roman" panose="02020603050405020304" pitchFamily="18" charset="0"/>
                <a:cs typeface="Times New Roman" panose="02020603050405020304" pitchFamily="18" charset="0"/>
              </a:rPr>
              <a:t>Django</a:t>
            </a:r>
          </a:p>
          <a:p>
            <a:pPr marL="0" indent="0">
              <a:buNone/>
            </a:pPr>
            <a:r>
              <a:rPr lang="en-US" dirty="0">
                <a:latin typeface="Times New Roman" panose="02020603050405020304" pitchFamily="18" charset="0"/>
                <a:cs typeface="Times New Roman" panose="02020603050405020304" pitchFamily="18" charset="0"/>
              </a:rPr>
              <a:t>Features: High-level Python web framework; follows the DRY (Don't Repeat Yourself) principle and offers built-in admin interfaces.</a:t>
            </a:r>
          </a:p>
          <a:p>
            <a:pPr marL="0" indent="0">
              <a:buNone/>
            </a:pPr>
            <a:r>
              <a:rPr lang="en-US" dirty="0">
                <a:latin typeface="Times New Roman" panose="02020603050405020304" pitchFamily="18" charset="0"/>
                <a:cs typeface="Times New Roman" panose="02020603050405020304" pitchFamily="18" charset="0"/>
              </a:rPr>
              <a:t>Importance: Speeds up web development by providing robust and secure backend solutions, ideal for rapid application development.</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8</a:t>
            </a:fld>
            <a:endParaRPr lang="en-US" altLang="en-US"/>
          </a:p>
        </p:txBody>
      </p:sp>
    </p:spTree>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US" b="1" dirty="0"/>
              <a:t>Project Manager (PM)</a:t>
            </a:r>
            <a:endParaRPr lang="en-US" dirty="0"/>
          </a:p>
          <a:p>
            <a:pPr marL="0" indent="0">
              <a:buNone/>
            </a:pPr>
            <a:r>
              <a:rPr lang="en-US" dirty="0"/>
              <a:t>Oversees the project timeline, budget, and scope.</a:t>
            </a:r>
          </a:p>
          <a:p>
            <a:pPr marL="0" indent="0">
              <a:buNone/>
            </a:pPr>
            <a:r>
              <a:rPr lang="en-US" dirty="0"/>
              <a:t>Acts as the main point of contact for stakeholders and higher management.</a:t>
            </a:r>
          </a:p>
          <a:p>
            <a:endParaRPr lang="en-US" b="1" dirty="0"/>
          </a:p>
          <a:p>
            <a:r>
              <a:rPr lang="en-US" b="1" dirty="0"/>
              <a:t>Technical Lead (Tech Lead)</a:t>
            </a:r>
          </a:p>
          <a:p>
            <a:pPr marL="0" indent="0">
              <a:buNone/>
            </a:pPr>
            <a:r>
              <a:rPr lang="en-US" dirty="0"/>
              <a:t>Guides the technical direction of the project.</a:t>
            </a:r>
          </a:p>
          <a:p>
            <a:pPr marL="0" indent="0">
              <a:buNone/>
            </a:pPr>
            <a:r>
              <a:rPr lang="en-US" dirty="0"/>
              <a:t>Mentors developers and ensures coding standards and best practices.</a:t>
            </a:r>
          </a:p>
          <a:p>
            <a:pPr marL="0" indent="0">
              <a:buNone/>
            </a:pPr>
            <a:endParaRPr lang="en-US" dirty="0"/>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9</a:t>
            </a:fld>
            <a:endParaRPr lang="en-US" altLang="en-US"/>
          </a:p>
        </p:txBody>
      </p:sp>
    </p:spTree>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US" b="1" dirty="0"/>
              <a:t>Developers</a:t>
            </a:r>
            <a:endParaRPr lang="en-US" dirty="0"/>
          </a:p>
          <a:p>
            <a:pPr marL="0" indent="0">
              <a:buNone/>
            </a:pPr>
            <a:r>
              <a:rPr lang="en-US" dirty="0"/>
              <a:t>Responsible for writing and maintaining code.</a:t>
            </a:r>
          </a:p>
          <a:p>
            <a:pPr marL="0" indent="0">
              <a:buNone/>
            </a:pPr>
            <a:r>
              <a:rPr lang="en-US" dirty="0"/>
              <a:t>Work in close collaboration with the Tech Lead and QA.</a:t>
            </a:r>
          </a:p>
          <a:p>
            <a:endParaRPr lang="en-US" b="1" dirty="0"/>
          </a:p>
          <a:p>
            <a:r>
              <a:rPr lang="en-US" b="1" dirty="0"/>
              <a:t>Quality Assurance (QA) / Testers</a:t>
            </a:r>
            <a:endParaRPr lang="en-US" dirty="0"/>
          </a:p>
          <a:p>
            <a:pPr marL="0" indent="0">
              <a:buNone/>
            </a:pPr>
            <a:r>
              <a:rPr lang="en-US" dirty="0"/>
              <a:t>Verify that the software meets requirements.</a:t>
            </a:r>
          </a:p>
          <a:p>
            <a:pPr marL="0" indent="0">
              <a:buNone/>
            </a:pPr>
            <a:r>
              <a:rPr lang="en-US" dirty="0"/>
              <a:t>Perform functional, integration, and regression testing.</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10</a:t>
            </a:fld>
            <a:endParaRPr lang="en-US" altLang="en-US"/>
          </a:p>
        </p:txBody>
      </p:sp>
    </p:spTree>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960432"/>
            <a:ext cx="10515600" cy="4058194"/>
          </a:xfrm>
        </p:spPr>
        <p:txBody>
          <a:bodyPr/>
          <a:lstStyle/>
          <a:p>
            <a:r>
              <a:rPr lang="en-US" b="1" dirty="0"/>
              <a:t>High Competition:</a:t>
            </a:r>
            <a:br>
              <a:rPr lang="en-US" dirty="0"/>
            </a:br>
            <a:r>
              <a:rPr lang="en-US" dirty="0"/>
              <a:t>With many qualified applicants vying for limited spots, it can be challenging to stand out from the crowd.</a:t>
            </a:r>
          </a:p>
          <a:p>
            <a:r>
              <a:rPr lang="en-US" b="1" dirty="0"/>
              <a:t>Specific Skill Requirements:</a:t>
            </a:r>
            <a:br>
              <a:rPr lang="en-US" dirty="0"/>
            </a:br>
            <a:r>
              <a:rPr lang="en-US" dirty="0"/>
              <a:t>Test Yantra may be looking for proficiency in particular programming languages or frameworks (e.g., Python, HTML, CSS, JavaScript, Django, React). Gaps in these skills could make the application process more challenging</a:t>
            </a:r>
          </a:p>
          <a:p>
            <a:r>
              <a:rPr lang="en-US" b="1" dirty="0"/>
              <a:t>Networking Opportunities:</a:t>
            </a:r>
            <a:br>
              <a:rPr lang="en-US" dirty="0"/>
            </a:br>
            <a:r>
              <a:rPr lang="en-US" dirty="0"/>
              <a:t>Sometimes, not having strong industry connections or referrals can make it harder to get noticed during the application process.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11</a:t>
            </a:fld>
            <a:endParaRPr lang="en-US" altLang="en-US"/>
          </a:p>
        </p:txBody>
      </p:sp>
    </p:spTree>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979715"/>
            <a:ext cx="10215465" cy="3889622"/>
          </a:xfrm>
        </p:spPr>
        <p:txBody>
          <a:bodyPr/>
          <a:lstStyle/>
          <a:p>
            <a:pPr marL="0" indent="0">
              <a:buNone/>
            </a:pPr>
            <a:r>
              <a:rPr lang="en-US" b="1" dirty="0"/>
              <a:t>Enhance User Experience:</a:t>
            </a:r>
            <a:r>
              <a:rPr lang="en-US" dirty="0"/>
              <a:t> Develop and integrate features that make web applications more intuitive and responsive for end-users</a:t>
            </a:r>
          </a:p>
          <a:p>
            <a:pPr marL="0" indent="0">
              <a:buNone/>
            </a:pPr>
            <a:r>
              <a:rPr lang="en-US" b="1" dirty="0"/>
              <a:t>Improve Code Quality &amp; Efficiency:</a:t>
            </a:r>
            <a:r>
              <a:rPr lang="en-US" dirty="0"/>
              <a:t> Write clean, maintainable code using Python, Django, React, etc., ensuring scalability and ease of future enhancements.</a:t>
            </a:r>
          </a:p>
          <a:p>
            <a:pPr marL="0" indent="0">
              <a:buNone/>
            </a:pPr>
            <a:r>
              <a:rPr lang="en-US" b="1" dirty="0"/>
              <a:t>Operational Platform:</a:t>
            </a:r>
            <a:r>
              <a:rPr lang="en-US" dirty="0"/>
              <a:t> The developed features and improvements become part of the live software used by clients, enhancing their daily operations.</a:t>
            </a:r>
          </a:p>
          <a:p>
            <a:pPr marL="0" indent="0">
              <a:buNone/>
            </a:pPr>
            <a:r>
              <a:rPr lang="en-US" b="1" dirty="0"/>
              <a:t>Training and Documentation:</a:t>
            </a:r>
            <a:r>
              <a:rPr lang="en-US" dirty="0"/>
              <a:t> Your work, including code and documentation, becomes a resource for onboarding new team members and for future troubleshooting and enhancements.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12</a:t>
            </a:fld>
            <a:endParaRPr lang="en-US" altLang="en-US"/>
          </a:p>
        </p:txBody>
      </p:sp>
    </p:spTree>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13</a:t>
            </a:fld>
            <a:endParaRPr lang="en-US" altLang="en-US"/>
          </a:p>
        </p:txBody>
      </p:sp>
      <p:graphicFrame>
        <p:nvGraphicFramePr>
          <p:cNvPr id="8" name="Content Placeholder 7"/>
          <p:cNvGraphicFramePr>
            <a:graphicFrameLocks noGrp="1"/>
          </p:cNvGraphicFramePr>
          <p:nvPr>
            <p:ph idx="1"/>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US"/>
          </a:p>
        </p:txBody>
      </p:sp>
      <p:sp>
        <p:nvSpPr>
          <p:cNvPr id="3" name="Content Placeholder 2"/>
          <p:cNvSpPr>
            <a:spLocks noGrp="1"/>
          </p:cNvSpPr>
          <p:nvPr>
            <p:ph idx="1"/>
          </p:nvPr>
        </p:nvSpPr>
        <p:spPr/>
        <p:txBody>
          <a:bodyPr/>
          <a:lstStyle/>
          <a:p>
            <a:r>
              <a:rPr lang="en-US" altLang="en-US"/>
              <a:t>Why Python &amp; Django for E-Commerce?</a:t>
            </a:r>
          </a:p>
          <a:p>
            <a:r>
              <a:rPr lang="en-US" altLang="en-US"/>
              <a:t>Fast &amp; Secure: Built-in authentication, ORM, and security features (CSRF, SQL Injection protection).</a:t>
            </a:r>
          </a:p>
          <a:p>
            <a:r>
              <a:rPr lang="en-US" altLang="en-US"/>
              <a:t>Scalability &amp; Modularity: Supports large product catalogs &amp; user traffic with caching and microservices.</a:t>
            </a:r>
          </a:p>
          <a:p>
            <a:r>
              <a:rPr lang="en-US" altLang="en-US"/>
              <a:t>Rapid Development: Pre-built admin panel, Django REST Framework (DRF) for APIs, and database integrations.</a:t>
            </a:r>
          </a:p>
          <a:p>
            <a:endParaRPr lang="en-US" altLang="en-US"/>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14</a:t>
            </a:fld>
            <a:endParaRPr lang="en-US" altLang="en-US"/>
          </a:p>
        </p:txBody>
      </p:sp>
    </p:spTree>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Continuation...</a:t>
            </a:r>
            <a:endParaRPr lang="en-IN"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altLang="en-US">
                <a:sym typeface="+mn-ea"/>
              </a:rPr>
              <a:t>Key Technologies for Full Stack E-Commerce</a:t>
            </a:r>
            <a:r>
              <a:rPr lang="en-IN" altLang="en-US">
                <a:sym typeface="+mn-ea"/>
              </a:rPr>
              <a:t>:</a:t>
            </a:r>
            <a:endParaRPr lang="en-US" altLang="en-US"/>
          </a:p>
          <a:p>
            <a:r>
              <a:rPr lang="en-US" altLang="en-US">
                <a:sym typeface="+mn-ea"/>
              </a:rPr>
              <a:t>Frontend: React.js, Tailwind CSS for dynamic and responsive UI.</a:t>
            </a:r>
            <a:endParaRPr lang="en-US" altLang="en-US"/>
          </a:p>
          <a:p>
            <a:r>
              <a:rPr lang="en-US" altLang="en-US">
                <a:sym typeface="+mn-ea"/>
              </a:rPr>
              <a:t>Backend: Django + Django REST Framework (DRF) for handling business logic &amp; APIs.</a:t>
            </a:r>
            <a:endParaRPr lang="en-US" altLang="en-US"/>
          </a:p>
          <a:p>
            <a:r>
              <a:rPr lang="en-US" altLang="en-US">
                <a:sym typeface="+mn-ea"/>
              </a:rPr>
              <a:t>Payments &amp; Auth: JWT, OAuth, Stripe, Razorpay for secure transactions.</a:t>
            </a:r>
            <a:endParaRPr lang="en-US"/>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15</a:t>
            </a:fld>
            <a:endParaRPr lang="en-US" altLang="en-US"/>
          </a:p>
        </p:txBody>
      </p:sp>
    </p:spTree>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Proposed System / Work</a:t>
            </a:r>
            <a:endParaRPr lang="en-US"/>
          </a:p>
        </p:txBody>
      </p:sp>
      <p:sp>
        <p:nvSpPr>
          <p:cNvPr id="3" name="Content Placeholder 2"/>
          <p:cNvSpPr>
            <a:spLocks noGrp="1"/>
          </p:cNvSpPr>
          <p:nvPr>
            <p:ph idx="1"/>
          </p:nvPr>
        </p:nvSpPr>
        <p:spPr/>
        <p:txBody>
          <a:bodyPr/>
          <a:lstStyle/>
          <a:p>
            <a:r>
              <a:rPr lang="en-IN" altLang="en-US"/>
              <a:t>Proposed System:</a:t>
            </a:r>
          </a:p>
          <a:p>
            <a:r>
              <a:rPr lang="en-IN" altLang="en-US"/>
              <a:t>Django Framework,Python,Web Technologies,SQL</a:t>
            </a:r>
          </a:p>
          <a:p>
            <a:r>
              <a:rPr lang="en-IN" altLang="en-US"/>
              <a:t>Work Assigned:</a:t>
            </a:r>
          </a:p>
          <a:p>
            <a:r>
              <a:rPr lang="en-IN" altLang="en-US"/>
              <a:t>To create Website using Django Framework along with linking additional Json file and Bootstrap to it.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16</a:t>
            </a:fld>
            <a:endParaRPr lang="en-US" altLang="en-US"/>
          </a:p>
        </p:txBody>
      </p:sp>
    </p:spTree>
  </p:cSld>
  <p:clrMapOvr>
    <a:masterClrMapping/>
  </p:clrMapOvr>
  <p:transition spd="slow">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US"/>
          </a:p>
        </p:txBody>
      </p:sp>
      <p:sp>
        <p:nvSpPr>
          <p:cNvPr id="3" name="Content Placeholder 2"/>
          <p:cNvSpPr>
            <a:spLocks noGrp="1"/>
          </p:cNvSpPr>
          <p:nvPr>
            <p:ph idx="1"/>
          </p:nvPr>
        </p:nvSpPr>
        <p:spPr>
          <a:xfrm>
            <a:off x="838200" y="1377950"/>
            <a:ext cx="10515600" cy="4351338"/>
          </a:xfrm>
        </p:spPr>
        <p:txBody>
          <a:bodyPr/>
          <a:lstStyle/>
          <a:p>
            <a:pPr marL="0" indent="0">
              <a:buNone/>
            </a:pPr>
            <a:endParaRPr lang="en-US" altLang="en-US"/>
          </a:p>
          <a:p>
            <a:r>
              <a:rPr lang="en-US" altLang="en-US"/>
              <a:t>Traditional food ordering systems face inefficiencies such as limited accessibility, manual order processing, security vulnerabilities, and lack of real-time tracking. There is a need for a scalable and secure e-commerce platform using Django to streamline menu management, order tracking, and payment processing while ensuring an enhanced user experience.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17</a:t>
            </a:fld>
            <a:endParaRPr lang="en-US" altLang="en-US"/>
          </a:p>
        </p:txBody>
      </p:sp>
    </p:spTree>
  </p:cSld>
  <p:clrMapOvr>
    <a:masterClrMapping/>
  </p:clrMapOvr>
  <p:transition spd="slow">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US"/>
          </a:p>
        </p:txBody>
      </p:sp>
      <p:sp>
        <p:nvSpPr>
          <p:cNvPr id="3" name="Content Placeholder 2"/>
          <p:cNvSpPr>
            <a:spLocks noGrp="1"/>
          </p:cNvSpPr>
          <p:nvPr>
            <p:ph idx="1"/>
          </p:nvPr>
        </p:nvSpPr>
        <p:spPr>
          <a:xfrm>
            <a:off x="858520" y="1825625"/>
            <a:ext cx="10515600" cy="4351338"/>
          </a:xfrm>
        </p:spPr>
        <p:txBody>
          <a:bodyPr/>
          <a:lstStyle/>
          <a:p>
            <a:r>
              <a:rPr lang="en-IN" altLang="en-US"/>
              <a:t>System with Idle Python version 3.</a:t>
            </a:r>
          </a:p>
          <a:p>
            <a:r>
              <a:rPr lang="en-IN" altLang="en-US"/>
              <a:t>System with suitable VsCode and latest version.</a:t>
            </a:r>
          </a:p>
          <a:p>
            <a:r>
              <a:rPr lang="en-IN" altLang="en-US"/>
              <a:t>Latest Django framework installation.</a:t>
            </a:r>
          </a:p>
          <a:p>
            <a:r>
              <a:rPr lang="en-IN" altLang="en-US"/>
              <a:t>System suitable with activation of virtual environment.</a:t>
            </a:r>
          </a:p>
          <a:p>
            <a:r>
              <a:rPr lang="en-IN" altLang="en-US"/>
              <a:t>System suitable to handle React Configuration and other API repostories.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18</a:t>
            </a:fld>
            <a:endParaRPr lang="en-US" altLang="en-US"/>
          </a:p>
        </p:txBody>
      </p:sp>
    </p:spTree>
  </p:cSld>
  <p:clrMapOvr>
    <a:masterClrMapping/>
  </p:clrMapOvr>
  <p:transition spd="slow">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US"/>
          </a:p>
        </p:txBody>
      </p:sp>
      <p:sp>
        <p:nvSpPr>
          <p:cNvPr id="3" name="Content Placeholder 2"/>
          <p:cNvSpPr>
            <a:spLocks noGrp="1"/>
          </p:cNvSpPr>
          <p:nvPr>
            <p:ph idx="1"/>
          </p:nvPr>
        </p:nvSpPr>
        <p:spPr/>
        <p:txBody>
          <a:bodyPr/>
          <a:lstStyle/>
          <a:p>
            <a:r>
              <a:rPr lang="en-IN" altLang="en-US"/>
              <a:t>Proposed System:</a:t>
            </a:r>
          </a:p>
          <a:p>
            <a:r>
              <a:rPr lang="en-IN" altLang="en-US"/>
              <a:t>Easy readable and understandable.</a:t>
            </a:r>
          </a:p>
          <a:p>
            <a:r>
              <a:rPr lang="en-IN" altLang="en-US"/>
              <a:t>Friendly user interface.</a:t>
            </a:r>
          </a:p>
          <a:p>
            <a:r>
              <a:rPr lang="en-IN" altLang="en-US"/>
              <a:t>Huge collection of libraries.</a:t>
            </a:r>
          </a:p>
          <a:p>
            <a:r>
              <a:rPr lang="en-IN" altLang="en-US"/>
              <a:t>Easy implementation of API keys and Repositories.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19</a:t>
            </a:fld>
            <a:endParaRPr lang="en-US" altLang="en-US"/>
          </a:p>
        </p:txBody>
      </p:sp>
    </p:spTree>
  </p:cSld>
  <p:clrMapOvr>
    <a:masterClrMapping/>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20</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t>https://github.com/mervynch/mervyn</a:t>
            </a:r>
          </a:p>
        </p:txBody>
      </p:sp>
    </p:spTree>
  </p:cSld>
  <p:clrMapOvr>
    <a:masterClrMapping/>
  </p:clrMapOvr>
  <p:transition spd="slow">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t>21</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22</a:t>
            </a:fld>
            <a:endParaRPr lang="en-US" altLang="en-US"/>
          </a:p>
        </p:txBody>
      </p:sp>
    </p:spTree>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1172</Words>
  <Application>Microsoft Office PowerPoint</Application>
  <PresentationFormat>Widescreen</PresentationFormat>
  <Paragraphs>152</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Working domain or the technology</vt:lpstr>
      <vt:lpstr>Working domain or the technology</vt:lpstr>
      <vt:lpstr>About your team and reporting Manager</vt:lpstr>
      <vt:lpstr>About your team and reporting Manager</vt:lpstr>
      <vt:lpstr>Challenges Faced in Internship</vt:lpstr>
      <vt:lpstr>Objectives of the work</vt:lpstr>
      <vt:lpstr>Internship Road Map</vt:lpstr>
      <vt:lpstr>Literature Review</vt:lpstr>
      <vt:lpstr>Continuation...</vt:lpstr>
      <vt:lpstr>Proposed System / Work</vt:lpstr>
      <vt:lpstr>Problem Statement</vt:lpstr>
      <vt:lpstr>System Requirements</vt:lpstr>
      <vt:lpstr>Advantages of Proposed System/Work</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mervynchristy2003@gmail.com</cp:lastModifiedBy>
  <cp:revision>920</cp:revision>
  <cp:lastPrinted>2018-07-24T06:37:00Z</cp:lastPrinted>
  <dcterms:created xsi:type="dcterms:W3CDTF">2018-06-07T04:06:00Z</dcterms:created>
  <dcterms:modified xsi:type="dcterms:W3CDTF">2025-04-28T15:34:10Z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469E1DBA7BE34B759DF47E9475A9BC7B_13</vt:lpwstr>
  </property>
  <property fmtid="{D5CDD505-2E9C-101B-9397-08002B2CF9AE}" pid="3" name="KSOProductBuildVer">
    <vt:lpwstr>1033-12.2.0.19805</vt:lpwstr>
  </property>
</Properties>
</file>